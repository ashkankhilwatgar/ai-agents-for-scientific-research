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2918400" cx="43891200"/>
  <p:notesSz cx="6858000" cy="9144000"/>
  <p:embeddedFontLst>
    <p:embeddedFont>
      <p:font typeface="Playfair Display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747775"/>
          </p15:clr>
        </p15:guide>
        <p15:guide id="2" pos="138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PlayfairDisplay-boldItalic.fntdata"/><Relationship Id="rId9" Type="http://schemas.openxmlformats.org/officeDocument/2006/relationships/font" Target="fonts/PlayfairDispl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fairDisplay-regular.fntdata"/><Relationship Id="rId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3efa8375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53efa837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496200" y="4765280"/>
            <a:ext cx="40899000" cy="131367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1pPr>
            <a:lvl2pPr lvl="1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2pPr>
            <a:lvl3pPr lvl="2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3pPr>
            <a:lvl4pPr lvl="3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4pPr>
            <a:lvl5pPr lvl="4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5pPr>
            <a:lvl6pPr lvl="5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6pPr>
            <a:lvl7pPr lvl="6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7pPr>
            <a:lvl8pPr lvl="7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8pPr>
            <a:lvl9pPr lvl="8" algn="ctr">
              <a:spcBef>
                <a:spcPts val="0"/>
              </a:spcBef>
              <a:spcAft>
                <a:spcPts val="0"/>
              </a:spcAft>
              <a:buSzPts val="27733"/>
              <a:buNone/>
              <a:defRPr sz="2773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96160" y="18138400"/>
            <a:ext cx="40899000" cy="50727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496160" y="13765440"/>
            <a:ext cx="40899000" cy="5387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indent="-702734" lvl="1" marL="9144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2pPr>
            <a:lvl3pPr indent="-702734" lvl="2" marL="13716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3pPr>
            <a:lvl4pPr indent="-702734" lvl="3" marL="18288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4pPr>
            <a:lvl5pPr indent="-702734" lvl="4" marL="22860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5pPr>
            <a:lvl6pPr indent="-702733" lvl="5" marL="27432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6pPr>
            <a:lvl7pPr indent="-702733" lvl="6" marL="32004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7pPr>
            <a:lvl8pPr indent="-702733" lvl="7" marL="36576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8pPr>
            <a:lvl9pPr indent="-702733" lvl="8" marL="41148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496160" y="7375840"/>
            <a:ext cx="191994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2734" lvl="0" marL="4572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3195520" y="7375840"/>
            <a:ext cx="19199400" cy="218649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702734" lvl="0" marL="4572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1pPr>
            <a:lvl2pPr lvl="1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2pPr>
            <a:lvl3pPr lvl="2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3pPr>
            <a:lvl4pPr lvl="3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4pPr>
            <a:lvl5pPr lvl="4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5pPr>
            <a:lvl6pPr lvl="5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6pPr>
            <a:lvl7pPr lvl="6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7pPr>
            <a:lvl8pPr lvl="7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8pPr>
            <a:lvl9pPr lvl="8">
              <a:spcBef>
                <a:spcPts val="0"/>
              </a:spcBef>
              <a:spcAft>
                <a:spcPts val="0"/>
              </a:spcAft>
              <a:buSzPts val="14933"/>
              <a:buNone/>
              <a:defRPr sz="14933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496160" y="3555840"/>
            <a:ext cx="13478400" cy="4836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496160" y="8893440"/>
            <a:ext cx="13478400" cy="203481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0"/>
              </a:spcBef>
              <a:spcAft>
                <a:spcPts val="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353200" y="2880960"/>
            <a:ext cx="30565500" cy="261810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1945600" y="-800"/>
            <a:ext cx="219456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274400" y="7892320"/>
            <a:ext cx="19416900" cy="9486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274400" y="17939680"/>
            <a:ext cx="19416900" cy="79047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3709600" y="4634080"/>
            <a:ext cx="18417600" cy="236487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indent="-702734" lvl="1" marL="9144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2pPr>
            <a:lvl3pPr indent="-702734" lvl="2" marL="13716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3pPr>
            <a:lvl4pPr indent="-702734" lvl="3" marL="18288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4pPr>
            <a:lvl5pPr indent="-702734" lvl="4" marL="22860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5pPr>
            <a:lvl6pPr indent="-702733" lvl="5" marL="27432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6pPr>
            <a:lvl7pPr indent="-702733" lvl="6" marL="3200400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7pPr>
            <a:lvl8pPr indent="-702733" lvl="7" marL="3657600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8pPr>
            <a:lvl9pPr indent="-702733" lvl="8" marL="4114800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496160" y="27075680"/>
            <a:ext cx="28794300" cy="38727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496160" y="7079200"/>
            <a:ext cx="40899000" cy="12566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96160" y="20174240"/>
            <a:ext cx="40899000" cy="83250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 sz="9600"/>
            </a:lvl1pPr>
            <a:lvl2pPr indent="-702734" lvl="1" marL="914400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2pPr>
            <a:lvl3pPr indent="-702734" lvl="2" marL="1371600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3pPr>
            <a:lvl4pPr indent="-702734" lvl="3" marL="1828800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4pPr>
            <a:lvl5pPr indent="-702734" lvl="4" marL="2286000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5pPr>
            <a:lvl6pPr indent="-702733" lvl="5" marL="2743200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6pPr>
            <a:lvl7pPr indent="-702733" lvl="6" marL="3200400" algn="ctr">
              <a:spcBef>
                <a:spcPts val="0"/>
              </a:spcBef>
              <a:spcAft>
                <a:spcPts val="0"/>
              </a:spcAft>
              <a:buSzPts val="7467"/>
              <a:buChar char="●"/>
              <a:defRPr sz="7467"/>
            </a:lvl7pPr>
            <a:lvl8pPr indent="-702733" lvl="7" marL="3657600" algn="ctr">
              <a:spcBef>
                <a:spcPts val="0"/>
              </a:spcBef>
              <a:spcAft>
                <a:spcPts val="0"/>
              </a:spcAft>
              <a:buSzPts val="7467"/>
              <a:buChar char="○"/>
              <a:defRPr sz="7467"/>
            </a:lvl8pPr>
            <a:lvl9pPr indent="-702733" lvl="8" marL="4114800" algn="ctr">
              <a:spcBef>
                <a:spcPts val="0"/>
              </a:spcBef>
              <a:spcAft>
                <a:spcPts val="0"/>
              </a:spcAft>
              <a:buSzPts val="7467"/>
              <a:buChar char="■"/>
              <a:defRPr sz="746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>
              <a:buNone/>
              <a:defRPr sz="5333"/>
            </a:lvl1pPr>
            <a:lvl2pPr lvl="1">
              <a:buNone/>
              <a:defRPr sz="5333"/>
            </a:lvl2pPr>
            <a:lvl3pPr lvl="2">
              <a:buNone/>
              <a:defRPr sz="5333"/>
            </a:lvl3pPr>
            <a:lvl4pPr lvl="3">
              <a:buNone/>
              <a:defRPr sz="5333"/>
            </a:lvl4pPr>
            <a:lvl5pPr lvl="4">
              <a:buNone/>
              <a:defRPr sz="5333"/>
            </a:lvl5pPr>
            <a:lvl6pPr lvl="5">
              <a:buNone/>
              <a:defRPr sz="5333"/>
            </a:lvl6pPr>
            <a:lvl7pPr lvl="6">
              <a:buNone/>
              <a:defRPr sz="5333"/>
            </a:lvl7pPr>
            <a:lvl8pPr lvl="7">
              <a:buNone/>
              <a:defRPr sz="5333"/>
            </a:lvl8pPr>
            <a:lvl9pPr lvl="8">
              <a:buNone/>
              <a:defRPr sz="53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96160" y="2848160"/>
            <a:ext cx="408990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3"/>
              <a:buNone/>
              <a:defRPr sz="14933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96160" y="7375840"/>
            <a:ext cx="40899000" cy="21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>
            <a:normAutofit/>
          </a:bodyPr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2734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7">
                <a:solidFill>
                  <a:schemeClr val="dk2"/>
                </a:solidFill>
              </a:defRPr>
            </a:lvl2pPr>
            <a:lvl3pPr indent="-702734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7">
                <a:solidFill>
                  <a:schemeClr val="dk2"/>
                </a:solidFill>
              </a:defRPr>
            </a:lvl3pPr>
            <a:lvl4pPr indent="-702734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7">
                <a:solidFill>
                  <a:schemeClr val="dk2"/>
                </a:solidFill>
              </a:defRPr>
            </a:lvl4pPr>
            <a:lvl5pPr indent="-702734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7">
                <a:solidFill>
                  <a:schemeClr val="dk2"/>
                </a:solidFill>
              </a:defRPr>
            </a:lvl5pPr>
            <a:lvl6pPr indent="-702733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7">
                <a:solidFill>
                  <a:schemeClr val="dk2"/>
                </a:solidFill>
              </a:defRPr>
            </a:lvl6pPr>
            <a:lvl7pPr indent="-702733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●"/>
              <a:defRPr sz="7467">
                <a:solidFill>
                  <a:schemeClr val="dk2"/>
                </a:solidFill>
              </a:defRPr>
            </a:lvl7pPr>
            <a:lvl8pPr indent="-702733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○"/>
              <a:defRPr sz="7467">
                <a:solidFill>
                  <a:schemeClr val="dk2"/>
                </a:solidFill>
              </a:defRPr>
            </a:lvl8pPr>
            <a:lvl9pPr indent="-70273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7"/>
              <a:buChar char="■"/>
              <a:defRPr sz="746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0667798" y="29844588"/>
            <a:ext cx="26337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rmAutofit/>
          </a:bodyPr>
          <a:lstStyle>
            <a:lvl1pPr lvl="0" algn="r">
              <a:buNone/>
              <a:defRPr sz="5333">
                <a:solidFill>
                  <a:schemeClr val="dk2"/>
                </a:solidFill>
              </a:defRPr>
            </a:lvl1pPr>
            <a:lvl2pPr lvl="1" algn="r">
              <a:buNone/>
              <a:defRPr sz="5333">
                <a:solidFill>
                  <a:schemeClr val="dk2"/>
                </a:solidFill>
              </a:defRPr>
            </a:lvl2pPr>
            <a:lvl3pPr lvl="2" algn="r">
              <a:buNone/>
              <a:defRPr sz="5333">
                <a:solidFill>
                  <a:schemeClr val="dk2"/>
                </a:solidFill>
              </a:defRPr>
            </a:lvl3pPr>
            <a:lvl4pPr lvl="3" algn="r">
              <a:buNone/>
              <a:defRPr sz="5333">
                <a:solidFill>
                  <a:schemeClr val="dk2"/>
                </a:solidFill>
              </a:defRPr>
            </a:lvl4pPr>
            <a:lvl5pPr lvl="4" algn="r">
              <a:buNone/>
              <a:defRPr sz="5333">
                <a:solidFill>
                  <a:schemeClr val="dk2"/>
                </a:solidFill>
              </a:defRPr>
            </a:lvl5pPr>
            <a:lvl6pPr lvl="5" algn="r">
              <a:buNone/>
              <a:defRPr sz="5333">
                <a:solidFill>
                  <a:schemeClr val="dk2"/>
                </a:solidFill>
              </a:defRPr>
            </a:lvl6pPr>
            <a:lvl7pPr lvl="6" algn="r">
              <a:buNone/>
              <a:defRPr sz="5333">
                <a:solidFill>
                  <a:schemeClr val="dk2"/>
                </a:solidFill>
              </a:defRPr>
            </a:lvl7pPr>
            <a:lvl8pPr lvl="7" algn="r">
              <a:buNone/>
              <a:defRPr sz="5333">
                <a:solidFill>
                  <a:schemeClr val="dk2"/>
                </a:solidFill>
              </a:defRPr>
            </a:lvl8pPr>
            <a:lvl9pPr lvl="8" algn="r">
              <a:buNone/>
              <a:defRPr sz="5333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50" y="0"/>
            <a:ext cx="43883700" cy="4634100"/>
          </a:xfrm>
          <a:prstGeom prst="rect">
            <a:avLst/>
          </a:prstGeom>
          <a:solidFill>
            <a:srgbClr val="082F8A"/>
          </a:solidFill>
          <a:ln cap="flat" cmpd="sng" w="9525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Agents for Scientific Discovery</a:t>
            </a:r>
            <a:endParaRPr sz="10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Ashkan Khilwatgar ‘28, Suning Hong ‘27, Simon Li ‘29, Wenbo Wang</a:t>
            </a:r>
            <a:endParaRPr sz="6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Computer Science Department</a:t>
            </a:r>
            <a:endParaRPr sz="66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7100" y="571659"/>
            <a:ext cx="5236200" cy="34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8928900" y="6370525"/>
            <a:ext cx="10393488" cy="988254"/>
          </a:xfrm>
          <a:prstGeom prst="flowChartTerminator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Methodology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066725" y="6370525"/>
            <a:ext cx="10393488" cy="988254"/>
          </a:xfrm>
          <a:prstGeom prst="flowChartTerminator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Motivation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066725" y="15965075"/>
            <a:ext cx="10393488" cy="988254"/>
          </a:xfrm>
          <a:prstGeom prst="flowChartTerminator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Results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8928900" y="15965075"/>
            <a:ext cx="10393488" cy="988254"/>
          </a:xfrm>
          <a:prstGeom prst="flowChartTerminator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Conclusion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60" name="Motivation Content"/>
          <p:cNvSpPr txBox="1"/>
          <p:nvPr/>
        </p:nvSpPr>
        <p:spPr>
          <a:xfrm>
            <a:off x="5066725" y="7358779"/>
            <a:ext cx="10393488" cy="8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3000" b="1">
                <a:solidFill>
                  <a:schemeClr val="dk2"/>
                </a:solidFill>
              </a:rPr>
              <a:t>Background: </a:t>
            </a:r>
            <a:r>
              <a:rPr lang="en" sz="3000">
                <a:solidFill>
                  <a:schemeClr val="dk2"/>
                </a:solidFill>
              </a:rPr>
              <a:t>Classifying genetic variants under ACMG/AMP and VCEP guidelines requires synthesizing evidence from ClinVar, gnomAD, Ensembl VEP, PubMed, and LOVD — a slow, reasoning-heavy task normally done by expert human curators.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3400" b="1">
                <a:solidFill>
                  <a:schemeClr val="dk2"/>
                </a:solidFill>
              </a:rPr>
              <a:t>Research question: </a:t>
            </a:r>
            <a:r>
              <a:rPr lang="en" sz="3400">
                <a:solidFill>
                  <a:schemeClr val="dk2"/>
                </a:solidFill>
              </a:rPr>
              <a:t>Are AI agents advanced enough to perform complex, reasoning-heavy clinical tasks?</a:t>
            </a:r>
            <a:endParaRPr sz="3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3000" b="1">
                <a:solidFill>
                  <a:schemeClr val="dk2"/>
                </a:solidFill>
              </a:rPr>
              <a:t>Case study: </a:t>
            </a:r>
            <a:r>
              <a:rPr lang="en" sz="3000">
                <a:solidFill>
                  <a:schemeClr val="dk2"/>
                </a:solidFill>
              </a:rPr>
              <a:t>we test this on ACVRL1/ENG variants in Hereditary Hemorrhagic Telangiectasia (HHT), scoring pipeline output against VCEP expert-panel gold-standard classifications.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00" name="Pipeline Step 1"/>
          <p:cNvSpPr/>
          <p:nvPr/>
        </p:nvSpPr>
        <p:spPr>
          <a:xfrm>
            <a:off x="28928900" y="7458779"/>
            <a:ext cx="1780000" cy="950000"/>
          </a:xfrm>
          <a:prstGeom prst="roundRect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buNone/>
            </a:pPr>
            <a:r>
              <a:rPr lang="en" sz="2000" b="1">
                <a:solidFill>
                  <a:schemeClr val="lt1"/>
                </a:solidFill>
              </a:rPr>
              <a:t>Annotate (VEP)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1" name="Pipeline Step 2"/>
          <p:cNvSpPr/>
          <p:nvPr/>
        </p:nvSpPr>
        <p:spPr>
          <a:xfrm>
            <a:off x="30857272" y="7458779"/>
            <a:ext cx="1780000" cy="950000"/>
          </a:xfrm>
          <a:prstGeom prst="roundRect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buNone/>
            </a:pPr>
            <a:r>
              <a:rPr lang="en" sz="2000" b="1">
                <a:solidFill>
                  <a:schemeClr val="lt1"/>
                </a:solidFill>
              </a:rPr>
              <a:t>Plan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2" name="Pipeline Step 3"/>
          <p:cNvSpPr/>
          <p:nvPr/>
        </p:nvSpPr>
        <p:spPr>
          <a:xfrm>
            <a:off x="32785644" y="7458779"/>
            <a:ext cx="1780000" cy="950000"/>
          </a:xfrm>
          <a:prstGeom prst="roundRect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buNone/>
            </a:pPr>
            <a:r>
              <a:rPr lang="en" sz="2000" b="1">
                <a:solidFill>
                  <a:schemeClr val="lt1"/>
                </a:solidFill>
              </a:rPr>
              <a:t>Gather Evidence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3" name="Pipeline Step 4"/>
          <p:cNvSpPr/>
          <p:nvPr/>
        </p:nvSpPr>
        <p:spPr>
          <a:xfrm>
            <a:off x="34714016" y="7458779"/>
            <a:ext cx="1780000" cy="950000"/>
          </a:xfrm>
          <a:prstGeom prst="roundRect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buNone/>
            </a:pPr>
            <a:r>
              <a:rPr lang="en" sz="2000" b="1">
                <a:solidFill>
                  <a:schemeClr val="lt1"/>
                </a:solidFill>
              </a:rPr>
              <a:t>Judge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4" name="Pipeline Step 5"/>
          <p:cNvSpPr/>
          <p:nvPr/>
        </p:nvSpPr>
        <p:spPr>
          <a:xfrm>
            <a:off x="36642388" y="7458779"/>
            <a:ext cx="1780000" cy="950000"/>
          </a:xfrm>
          <a:prstGeom prst="roundRect">
            <a:avLst/>
          </a:prstGeom>
          <a:solidFill>
            <a:srgbClr val="082F8A"/>
          </a:solidFill>
          <a:ln cap="flat" cmpd="sng" w="9525">
            <a:solidFill>
              <a:schemeClr val="dk2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buNone/>
            </a:pPr>
            <a:r>
              <a:rPr lang="en" sz="2000" b="1">
                <a:solidFill>
                  <a:schemeClr val="lt1"/>
                </a:solidFill>
              </a:rPr>
              <a:t>Score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1" name="Methodology Content"/>
          <p:cNvSpPr txBox="1"/>
          <p:nvPr/>
        </p:nvSpPr>
        <p:spPr>
          <a:xfrm>
            <a:off x="28928900" y="8758779"/>
            <a:ext cx="10393488" cy="7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" sz="3000" b="1">
                <a:solidFill>
                  <a:schemeClr val="dk2"/>
                </a:solidFill>
              </a:rPr>
              <a:t>A LangGraph multi-agent pipeline applies ACMG/AMP and HHT-VCEP criteria to each variant:</a:t>
            </a:r>
            <a:endParaRPr sz="30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900" b="1">
                <a:solidFill>
                  <a:schemeClr val="dk2"/>
                </a:solidFill>
              </a:rPr>
              <a:t>1. </a:t>
            </a:r>
            <a:r>
              <a:rPr lang="en" sz="2900">
                <a:solidFill>
                  <a:schemeClr val="dk2"/>
                </a:solidFill>
              </a:rPr>
              <a:t>Ensembl VEP annotates variant consequence and gene.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900" b="1">
                <a:solidFill>
                  <a:schemeClr val="dk2"/>
                </a:solidFill>
              </a:rPr>
              <a:t>2. </a:t>
            </a:r>
            <a:r>
              <a:rPr lang="en" sz="2900">
                <a:solidFill>
                  <a:schemeClr val="dk2"/>
                </a:solidFill>
              </a:rPr>
              <a:t>A deterministic Plan agent builds a phased task list from a curated PlanRAG knowledge base.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900" b="1">
                <a:solidFill>
                  <a:schemeClr val="dk2"/>
                </a:solidFill>
              </a:rPr>
              <a:t>3. </a:t>
            </a:r>
            <a:r>
              <a:rPr lang="en" sz="2900">
                <a:solidFill>
                  <a:schemeClr val="dk2"/>
                </a:solidFill>
              </a:rPr>
              <a:t>Criteria run in parallel per phase, with dependencies enforced (e.g. PM5 requires PM1).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900" b="1">
                <a:solidFill>
                  <a:schemeClr val="dk2"/>
                </a:solidFill>
              </a:rPr>
              <a:t>4. </a:t>
            </a:r>
            <a:r>
              <a:rPr lang="en" sz="2900">
                <a:solidFill>
                  <a:schemeClr val="dk2"/>
                </a:solidFill>
              </a:rPr>
              <a:t>Per criterion: Task agent gathers evidence (ClinVar, gnomAD, PubMed, LOVD, functional studies) → Debug agent catches tool errors → Judge agent decides applicability → Check agent validates formatting.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" sz="2900" b="1">
                <a:solidFill>
                  <a:schemeClr val="dk2"/>
                </a:solidFill>
              </a:rPr>
              <a:t>5. </a:t>
            </a:r>
            <a:r>
              <a:rPr lang="en" sz="2900">
                <a:solidFill>
                  <a:schemeClr val="dk2"/>
                </a:solidFill>
              </a:rPr>
              <a:t>A Scoring step combines all applied criteria into a final call (Pathogenic → Benign).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2700" i="1">
                <a:solidFill>
                  <a:schemeClr val="dk2"/>
                </a:solidFill>
              </a:rPr>
              <a:t>All reasoning agents run on Gemini via Vertex AI, rate-limited across concurrent branches.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10" name="Stat 1"/>
          <p:cNvSpPr/>
          <p:nvPr/>
        </p:nvSpPr>
        <p:spPr>
          <a:xfrm>
            <a:off x="5066725" y="16953329"/>
            <a:ext cx="3250000" cy="2100000"/>
          </a:xfrm>
          <a:prstGeom prst="roundRect">
            <a:avLst/>
          </a:prstGeom>
          <a:solidFill>
            <a:srgbClr val="EDF1FB"/>
          </a:solidFill>
          <a:ln cap="flat" cmpd="sng" w="12700">
            <a:solidFill>
              <a:srgbClr val="082F8A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spcAft>
                <a:spcPts val="0"/>
              </a:spcAft>
              <a:buNone/>
            </a:pPr>
            <a:r>
              <a:rPr lang="en" sz="4400" b="1">
                <a:solidFill>
                  <a:srgbClr val="082F8A"/>
                </a:solidFill>
              </a:rPr>
              <a:t>45.5%</a:t>
            </a:r>
            <a:endParaRPr sz="4400"/>
          </a:p>
          <a:p>
            <a:pPr indent="0" lvl="0" marL="0" rtl="0" algn="ctr">
              <a:buNone/>
            </a:pPr>
            <a:r>
              <a:rPr lang="en" sz="2000">
                <a:solidFill>
                  <a:schemeClr val="dk2"/>
                </a:solidFill>
              </a:rPr>
              <a:t>Final classification accuracy, full pipeline (n=200 variants)</a:t>
            </a:r>
            <a:endParaRPr sz="2000"/>
          </a:p>
        </p:txBody>
      </p:sp>
      <p:sp>
        <p:nvSpPr>
          <p:cNvPr id="111" name="Stat 2"/>
          <p:cNvSpPr/>
          <p:nvPr/>
        </p:nvSpPr>
        <p:spPr>
          <a:xfrm>
            <a:off x="8638469" y="16953329"/>
            <a:ext cx="3250000" cy="2100000"/>
          </a:xfrm>
          <a:prstGeom prst="roundRect">
            <a:avLst/>
          </a:prstGeom>
          <a:solidFill>
            <a:srgbClr val="EDF1FB"/>
          </a:solidFill>
          <a:ln cap="flat" cmpd="sng" w="12700">
            <a:solidFill>
              <a:srgbClr val="082F8A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spcAft>
                <a:spcPts val="0"/>
              </a:spcAft>
              <a:buNone/>
            </a:pPr>
            <a:r>
              <a:rPr lang="en" sz="4400" b="1">
                <a:solidFill>
                  <a:srgbClr val="082F8A"/>
                </a:solidFill>
              </a:rPr>
              <a:t>94.4%</a:t>
            </a:r>
            <a:endParaRPr sz="4400"/>
          </a:p>
          <a:p>
            <a:pPr indent="0" lvl="0" marL="0" rtl="0" algn="ctr">
              <a:buNone/>
            </a:pPr>
            <a:r>
              <a:rPr lang="en" sz="2000">
                <a:solidFill>
                  <a:schemeClr val="dk2"/>
                </a:solidFill>
              </a:rPr>
              <a:t>Per-criterion accuracy (n=487 checks)</a:t>
            </a:r>
            <a:endParaRPr sz="2000"/>
          </a:p>
        </p:txBody>
      </p:sp>
      <p:sp>
        <p:nvSpPr>
          <p:cNvPr id="112" name="Stat 3"/>
          <p:cNvSpPr/>
          <p:nvPr/>
        </p:nvSpPr>
        <p:spPr>
          <a:xfrm>
            <a:off x="12210213" y="16953329"/>
            <a:ext cx="3250000" cy="2100000"/>
          </a:xfrm>
          <a:prstGeom prst="roundRect">
            <a:avLst/>
          </a:prstGeom>
          <a:solidFill>
            <a:srgbClr val="EDF1FB"/>
          </a:solidFill>
          <a:ln cap="flat" cmpd="sng" w="12700">
            <a:solidFill>
              <a:srgbClr val="082F8A"/>
            </a:solidFill>
            <a:prstDash val="solid"/>
          </a:ln>
        </p:spPr>
        <p:txBody>
          <a:bodyPr anchorCtr="0" anchor="ctr" bIns="30000" lIns="30000" rIns="30000" tIns="30000" wrap="square">
            <a:noAutofit/>
          </a:bodyPr>
          <a:lstStyle/>
          <a:p>
            <a:pPr indent="0" lvl="0" marL="0" rtl="0" algn="ctr">
              <a:spcAft>
                <a:spcPts val="0"/>
              </a:spcAft>
              <a:buNone/>
            </a:pPr>
            <a:r>
              <a:rPr lang="en" sz="4400" b="1">
                <a:solidFill>
                  <a:srgbClr val="082F8A"/>
                </a:solidFill>
              </a:rPr>
              <a:t>51.5%</a:t>
            </a:r>
            <a:endParaRPr sz="4400"/>
          </a:p>
          <a:p>
            <a:pPr indent="0" lvl="0" marL="0" rtl="0" algn="ctr">
              <a:buNone/>
            </a:pPr>
            <a:r>
              <a:rPr lang="en" sz="2000">
                <a:solidFill>
                  <a:schemeClr val="dk2"/>
                </a:solidFill>
              </a:rPr>
              <a:t>Best config: Task+Debug, no Judge (n=200)</a:t>
            </a:r>
            <a:endParaRPr sz="2000"/>
          </a:p>
        </p:txBody>
      </p:sp>
      <p:sp>
        <p:nvSpPr>
          <p:cNvPr id="113" name="Results Content"/>
          <p:cNvSpPr txBox="1"/>
          <p:nvPr/>
        </p:nvSpPr>
        <p:spPr>
          <a:xfrm>
            <a:off x="5066725" y="19403329"/>
            <a:ext cx="10393488" cy="12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On the full 200-variant HHT set, exact-match accuracy is 45.5% — but per-criterion reasoning is far stronger (94.4%, 487 checks), so most of the gap is in combining criteria, not evaluating them.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Dominant error: a "one notch less confident" bias — 47/64 Pathogenic variants called Likely Pathogenic; 31/58 Likely Benign called VUS.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Removing Debug/Judge improves accuracy (51.5% vs. 45.5%) — they nudge borderline calls more conservative rather than correcting them.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Weakest criteria: PM5 (82%) and PS3 (83%) — PS3's LLM filtering step over-rejects relevant functional-evidence papers.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20" name="Conclusion Content"/>
          <p:cNvSpPr txBox="1"/>
          <p:nvPr/>
        </p:nvSpPr>
        <p:spPr>
          <a:xfrm>
            <a:off x="28928900" y="16953329"/>
            <a:ext cx="10393488" cy="13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AI agents reason well per-criterion (94.4%) but combining evidence into one final call is the bottleneck (45.5% exact-match, n=200).</a:t>
            </a:r>
            <a:endParaRPr sz="3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3000" b="1">
                <a:solidFill>
                  <a:schemeClr val="dk2"/>
                </a:solidFill>
              </a:rPr>
              <a:t>Reliability gaps that remain:</a:t>
            </a:r>
            <a:endParaRPr sz="30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Debug/Judge amplify a conservative-downgrade bias instead of correcting it — full pipeline is 6 points worse than Task-only.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Judge-agent checks are stochastic — identical code/prompts re-run on the same variants produce different accuracy.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7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PM5 and PS3 are the weakest criteria; PS3 traces to an LLM step over-filtering functional-evidence abstracts.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" sz="3000" b="1">
                <a:solidFill>
                  <a:schemeClr val="dk2"/>
                </a:solidFill>
              </a:rPr>
              <a:t>Next steps:</a:t>
            </a:r>
            <a:endParaRPr sz="30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Recalibrate Debug/Judge's evidence bar, not just retry/oscillation handling.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Fix the LLM filtering step under-retrieving PS3/BS3 evidence.</a:t>
            </a:r>
            <a:endParaRPr sz="29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500"/>
              </a:spcAft>
              <a:buClr>
                <a:schemeClr val="dk2"/>
              </a:buClr>
              <a:buSzPts val="2900"/>
              <a:buChar char="●"/>
            </a:pPr>
            <a:r>
              <a:rPr lang="en" sz="2900">
                <a:solidFill>
                  <a:schemeClr val="dk2"/>
                </a:solidFill>
              </a:rPr>
              <a:t>Run multiple ablation replicates before extending evaluation beyond HHT.</a:t>
            </a:r>
            <a:endParaRPr sz="2900">
              <a:solidFill>
                <a:schemeClr val="dk2"/>
              </a:solidFill>
            </a:endParaRPr>
          </a:p>
        </p:txBody>
      </p:sp>
      <p:pic>
        <p:nvPicPr>
          <p:cNvPr id="200" name="Motivation 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4569" y="13000000"/>
            <a:ext cx="7537800" cy="30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Results Confusion Matri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6725" y="27300000"/>
            <a:ext cx="5154661" cy="34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Results Per Criterio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71386" y="27300000"/>
            <a:ext cx="5088807" cy="34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Conclusion Chart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720144" y="27300000"/>
            <a:ext cx="8811000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